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31"/>
    <p:restoredTop sz="94640"/>
  </p:normalViewPr>
  <p:slideViewPr>
    <p:cSldViewPr snapToGrid="0" snapToObjects="1">
      <p:cViewPr varScale="1">
        <p:scale>
          <a:sx n="96" d="100"/>
          <a:sy n="96" d="100"/>
        </p:scale>
        <p:origin x="176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de IA ·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UCCuyo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Diapositiva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1/6  ·  https://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claudiomlarrea.github.io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observatorio-ia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/#jornadas-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ia</a:t>
            </a:r>
            <a:endParaRPr sz="11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1. Portada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Gemelo digital </a:t>
            </a:r>
            <a:r>
              <a:rPr dirty="0" err="1">
                <a:solidFill>
                  <a:schemeClr val="tx1"/>
                </a:solidFill>
              </a:rPr>
              <a:t>sociodemográfico</a:t>
            </a:r>
            <a:r>
              <a:rPr dirty="0">
                <a:solidFill>
                  <a:schemeClr val="tx1"/>
                </a:solidFill>
              </a:rPr>
              <a:t> de la EPH-INDEC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digital, </a:t>
            </a:r>
            <a:r>
              <a:rPr dirty="0" err="1">
                <a:solidFill>
                  <a:schemeClr val="tx1"/>
                </a:solidFill>
              </a:rPr>
              <a:t>vulnerabilidad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brechas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territoriales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Argentina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C. Larrea Arnau¹ · J. La Malfa · J. Coria · S. Young · B. Arias · L. Pizarro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— Universidad Católica de Cuyo</a:t>
            </a:r>
          </a:p>
          <a:p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2/6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2. Objetivo / contexto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¿Para qué sirve un gemelo digital de la EPH?</a:t>
            </a:r>
          </a:p>
          <a:p>
            <a:pPr algn="l">
              <a:spcAft>
                <a:spcPts val="800"/>
              </a:spcAft>
            </a:pPr>
            <a:r>
              <a:t>• La EPH del INDEC nos dice cómo viven, trabajan y se conectan los hogares urbanos de Argentina.</a:t>
            </a:r>
          </a:p>
          <a:p>
            <a:pPr algn="l">
              <a:spcAft>
                <a:spcPts val="800"/>
              </a:spcAft>
            </a:pPr>
            <a:r>
              <a:t>• Pero solo muestra lo que ya ocurre: no responde qué pasaría si más gente tuviera internet, más educación o empleo formal.</a:t>
            </a:r>
          </a:p>
          <a:p>
            <a:pPr algn="l">
              <a:spcAft>
                <a:spcPts val="800"/>
              </a:spcAft>
            </a:pPr>
            <a:r>
              <a:t>• GEMEPH toma ese dato oficial y permite simular escenarios ("qué pasaría si…") de forma transparente y repetible.</a:t>
            </a:r>
          </a:p>
          <a:p>
            <a:r>
              <a:t>• Así, el Observatorio de IA de la UCCuyo puede investigar, enseñar y orientar decisiones con evidencia comparable en 31 ciudades.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3/6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3. Método o experiencia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¿Cómo funciona GEMEPH?</a:t>
            </a:r>
          </a:p>
          <a:p>
            <a:pPr algn="l">
              <a:spcAft>
                <a:spcPts val="800"/>
              </a:spcAft>
            </a:pPr>
            <a:r>
              <a:t>• Parte de microdatos oficiales de la EPH (2022–2024, 4.º trimestre, módulo TIC): 114.280 personas, con el peso estadístico del INDEC.</a:t>
            </a:r>
          </a:p>
          <a:p>
            <a:pPr algn="l">
              <a:spcAft>
                <a:spcPts val="800"/>
              </a:spcAft>
            </a:pPr>
            <a:r>
              <a:t>• Calcula indicadores fáciles de interpretar: exclusión digital, vulnerabilidad, movilidad social, empleo, educación e informalidad.</a:t>
            </a:r>
          </a:p>
          <a:p>
            <a:pPr algn="l">
              <a:spcAft>
                <a:spcPts val="800"/>
              </a:spcAft>
            </a:pPr>
            <a:r>
              <a:t>• Usa inteligencia artificial para agrupar perfiles y estimar quiénes tienen mayor riesgo de exclusión digital alta.</a:t>
            </a:r>
            <a:endParaRPr dirty="0">
              <a:solidFill>
                <a:schemeClr val="tx1"/>
              </a:solidFill>
            </a:endParaRPr>
          </a:p>
          <a:p>
            <a:r>
              <a:t>• Permite mover tres "palancas" de política: internet en hogares de menores ingresos, educación universitaria y empleo formal.</a:t>
            </a:r>
          </a:p>
          <a:p>
            <a:r>
              <a:t>• Compara tres escenarios ficticios (conectividad, educación e integrado) sobre el mismo punto de partida oficial.</a:t>
            </a:r>
          </a:p>
          <a:p>
            <a:r>
              <a:t>• Todo se consulta en una plataforma abierta: eph-analyzer.streamlit.app/GEMEPH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4/6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4. Resultados / hallazgos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44068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Resultados</a:t>
            </a:r>
            <a:r>
              <a:rPr dirty="0">
                <a:solidFill>
                  <a:schemeClr val="tx1"/>
                </a:solidFill>
              </a:rPr>
              <a:t> del baseline </a:t>
            </a:r>
            <a:r>
              <a:rPr dirty="0" err="1">
                <a:solidFill>
                  <a:schemeClr val="tx1"/>
                </a:solidFill>
              </a:rPr>
              <a:t>oficial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digital: 0,62 — 54%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alta.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</a:t>
            </a:r>
            <a:r>
              <a:rPr dirty="0" err="1">
                <a:solidFill>
                  <a:schemeClr val="tx1"/>
                </a:solidFill>
              </a:rPr>
              <a:t>Vulnerabilidad</a:t>
            </a:r>
            <a:r>
              <a:rPr dirty="0">
                <a:solidFill>
                  <a:schemeClr val="tx1"/>
                </a:solidFill>
              </a:rPr>
              <a:t>: 0,27 · </a:t>
            </a:r>
            <a:r>
              <a:rPr dirty="0" err="1">
                <a:solidFill>
                  <a:schemeClr val="tx1"/>
                </a:solidFill>
              </a:rPr>
              <a:t>Movilidad</a:t>
            </a:r>
            <a:r>
              <a:rPr dirty="0">
                <a:solidFill>
                  <a:schemeClr val="tx1"/>
                </a:solidFill>
              </a:rPr>
              <a:t> proxy: 0,48.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Fuerte </a:t>
            </a:r>
            <a:r>
              <a:rPr dirty="0" err="1">
                <a:solidFill>
                  <a:schemeClr val="tx1"/>
                </a:solidFill>
              </a:rPr>
              <a:t>heterogeneidad</a:t>
            </a:r>
            <a:r>
              <a:rPr dirty="0">
                <a:solidFill>
                  <a:schemeClr val="tx1"/>
                </a:solidFill>
              </a:rPr>
              <a:t> entre </a:t>
            </a:r>
            <a:r>
              <a:rPr dirty="0" err="1">
                <a:solidFill>
                  <a:schemeClr val="tx1"/>
                </a:solidFill>
              </a:rPr>
              <a:t>los</a:t>
            </a:r>
            <a:r>
              <a:rPr dirty="0">
                <a:solidFill>
                  <a:schemeClr val="tx1"/>
                </a:solidFill>
              </a:rPr>
              <a:t> 31 </a:t>
            </a:r>
            <a:r>
              <a:rPr dirty="0" err="1">
                <a:solidFill>
                  <a:schemeClr val="tx1"/>
                </a:solidFill>
              </a:rPr>
              <a:t>aglomerados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urbanos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r>
              <a:rPr dirty="0">
                <a:solidFill>
                  <a:schemeClr val="tx1"/>
                </a:solidFill>
              </a:rPr>
              <a:t>• Ushuaia–Río Grande </a:t>
            </a:r>
            <a:r>
              <a:rPr dirty="0" err="1">
                <a:solidFill>
                  <a:schemeClr val="tx1"/>
                </a:solidFill>
              </a:rPr>
              <a:t>lidera</a:t>
            </a:r>
            <a:r>
              <a:rPr dirty="0">
                <a:solidFill>
                  <a:schemeClr val="tx1"/>
                </a:solidFill>
              </a:rPr>
              <a:t> el ranking; Gran Córdoba, el valor </a:t>
            </a:r>
            <a:r>
              <a:rPr dirty="0" err="1">
                <a:solidFill>
                  <a:schemeClr val="tx1"/>
                </a:solidFill>
              </a:rPr>
              <a:t>más</a:t>
            </a:r>
            <a:r>
              <a:rPr dirty="0">
                <a:solidFill>
                  <a:schemeClr val="tx1"/>
                </a:solidFill>
              </a:rPr>
              <a:t> bajo.</a:t>
            </a:r>
          </a:p>
          <a:p>
            <a:r>
              <a:rPr dirty="0">
                <a:solidFill>
                  <a:schemeClr val="tx1"/>
                </a:solidFill>
              </a:rPr>
              <a:t>• El </a:t>
            </a:r>
            <a:r>
              <a:rPr dirty="0" err="1">
                <a:solidFill>
                  <a:schemeClr val="tx1"/>
                </a:solidFill>
              </a:rPr>
              <a:t>gemelo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actualiza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estas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brechas</a:t>
            </a:r>
            <a:r>
              <a:rPr dirty="0">
                <a:solidFill>
                  <a:schemeClr val="tx1"/>
                </a:solidFill>
              </a:rPr>
              <a:t> con </a:t>
            </a:r>
            <a:r>
              <a:rPr dirty="0" err="1">
                <a:solidFill>
                  <a:schemeClr val="tx1"/>
                </a:solidFill>
              </a:rPr>
              <a:t>cada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onda</a:t>
            </a:r>
            <a:r>
              <a:rPr dirty="0">
                <a:solidFill>
                  <a:schemeClr val="tx1"/>
                </a:solidFill>
              </a:rPr>
              <a:t> del INDEC.</a:t>
            </a:r>
          </a:p>
        </p:txBody>
      </p:sp>
      <p:pic>
        <p:nvPicPr>
          <p:cNvPr id="11" name="Picture 10" descr="01_baseline_indic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11680"/>
            <a:ext cx="5669280" cy="2149602"/>
          </a:xfrm>
          <a:prstGeom prst="rect">
            <a:avLst/>
          </a:prstGeom>
        </p:spPr>
      </p:pic>
      <p:pic>
        <p:nvPicPr>
          <p:cNvPr id="12" name="Picture 11" descr="02_brecha_territo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977639"/>
            <a:ext cx="5669280" cy="21259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5/6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5. Conclusiones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44068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Tres </a:t>
            </a:r>
            <a:r>
              <a:rPr dirty="0" err="1">
                <a:solidFill>
                  <a:schemeClr val="tx1"/>
                </a:solidFill>
              </a:rPr>
              <a:t>escenarios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tres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lecciones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E1 </a:t>
            </a:r>
            <a:r>
              <a:rPr dirty="0" err="1">
                <a:solidFill>
                  <a:schemeClr val="tx1"/>
                </a:solidFill>
              </a:rPr>
              <a:t>Conectividad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efecto</a:t>
            </a:r>
            <a:r>
              <a:rPr dirty="0">
                <a:solidFill>
                  <a:schemeClr val="tx1"/>
                </a:solidFill>
              </a:rPr>
              <a:t> marginal (</a:t>
            </a:r>
            <a:r>
              <a:rPr dirty="0" err="1">
                <a:solidFill>
                  <a:schemeClr val="tx1"/>
                </a:solidFill>
              </a:rPr>
              <a:t>quintil</a:t>
            </a:r>
            <a:r>
              <a:rPr dirty="0">
                <a:solidFill>
                  <a:schemeClr val="tx1"/>
                </a:solidFill>
              </a:rPr>
              <a:t> bajo </a:t>
            </a:r>
            <a:r>
              <a:rPr dirty="0" err="1">
                <a:solidFill>
                  <a:schemeClr val="tx1"/>
                </a:solidFill>
              </a:rPr>
              <a:t>ya</a:t>
            </a:r>
            <a:r>
              <a:rPr dirty="0">
                <a:solidFill>
                  <a:schemeClr val="tx1"/>
                </a:solidFill>
              </a:rPr>
              <a:t> al 94% de internet).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E2 </a:t>
            </a:r>
            <a:r>
              <a:rPr dirty="0" err="1">
                <a:solidFill>
                  <a:schemeClr val="tx1"/>
                </a:solidFill>
              </a:rPr>
              <a:t>Educación</a:t>
            </a:r>
            <a:r>
              <a:rPr dirty="0">
                <a:solidFill>
                  <a:schemeClr val="tx1"/>
                </a:solidFill>
              </a:rPr>
              <a:t> al 40%: mayor </a:t>
            </a:r>
            <a:r>
              <a:rPr dirty="0" err="1">
                <a:solidFill>
                  <a:schemeClr val="tx1"/>
                </a:solidFill>
              </a:rPr>
              <a:t>impacto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movilidad</a:t>
            </a:r>
            <a:r>
              <a:rPr dirty="0">
                <a:solidFill>
                  <a:schemeClr val="tx1"/>
                </a:solidFill>
              </a:rPr>
              <a:t> proxy (+0,04).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E3 </a:t>
            </a:r>
            <a:r>
              <a:rPr dirty="0" err="1">
                <a:solidFill>
                  <a:schemeClr val="tx1"/>
                </a:solidFill>
              </a:rPr>
              <a:t>Paquete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integrado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efecto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más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equilibrado</a:t>
            </a:r>
            <a:r>
              <a:rPr dirty="0">
                <a:solidFill>
                  <a:schemeClr val="tx1"/>
                </a:solidFill>
              </a:rPr>
              <a:t>;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predicha</a:t>
            </a:r>
            <a:r>
              <a:rPr dirty="0">
                <a:solidFill>
                  <a:schemeClr val="tx1"/>
                </a:solidFill>
              </a:rPr>
              <a:t> 5,84%.</a:t>
            </a:r>
          </a:p>
          <a:p>
            <a:r>
              <a:rPr dirty="0">
                <a:solidFill>
                  <a:schemeClr val="tx1"/>
                </a:solidFill>
              </a:rPr>
              <a:t>• Una sola </a:t>
            </a:r>
            <a:r>
              <a:rPr dirty="0" err="1">
                <a:solidFill>
                  <a:schemeClr val="tx1"/>
                </a:solidFill>
              </a:rPr>
              <a:t>palanca</a:t>
            </a:r>
            <a:r>
              <a:rPr dirty="0">
                <a:solidFill>
                  <a:schemeClr val="tx1"/>
                </a:solidFill>
              </a:rPr>
              <a:t> digital no basta: </a:t>
            </a:r>
            <a:r>
              <a:rPr dirty="0" err="1">
                <a:solidFill>
                  <a:schemeClr val="tx1"/>
                </a:solidFill>
              </a:rPr>
              <a:t>conviene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combinar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políticas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r>
              <a:rPr dirty="0">
                <a:solidFill>
                  <a:schemeClr val="tx1"/>
                </a:solidFill>
              </a:rPr>
              <a:t>• El </a:t>
            </a:r>
            <a:r>
              <a:rPr dirty="0" err="1">
                <a:solidFill>
                  <a:schemeClr val="tx1"/>
                </a:solidFill>
              </a:rPr>
              <a:t>gemelo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anticipa</a:t>
            </a:r>
            <a:r>
              <a:rPr dirty="0">
                <a:solidFill>
                  <a:schemeClr val="tx1"/>
                </a:solidFill>
              </a:rPr>
              <a:t> magnitudes de </a:t>
            </a:r>
            <a:r>
              <a:rPr dirty="0" err="1">
                <a:solidFill>
                  <a:schemeClr val="tx1"/>
                </a:solidFill>
              </a:rPr>
              <a:t>cambio</a:t>
            </a:r>
            <a:r>
              <a:rPr dirty="0">
                <a:solidFill>
                  <a:schemeClr val="tx1"/>
                </a:solidFill>
              </a:rPr>
              <a:t> sin </a:t>
            </a:r>
            <a:r>
              <a:rPr dirty="0" err="1">
                <a:solidFill>
                  <a:schemeClr val="tx1"/>
                </a:solidFill>
              </a:rPr>
              <a:t>reemplazar</a:t>
            </a:r>
            <a:r>
              <a:rPr dirty="0">
                <a:solidFill>
                  <a:schemeClr val="tx1"/>
                </a:solidFill>
              </a:rPr>
              <a:t> al INDEC.</a:t>
            </a:r>
          </a:p>
        </p:txBody>
      </p:sp>
      <p:pic>
        <p:nvPicPr>
          <p:cNvPr id="11" name="Picture 10" descr="03_comparacion_e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5669280" cy="30917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6/6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6. Cierre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Gracias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Preguntas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comentarios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 · </a:t>
            </a:r>
            <a:r>
              <a:rPr dirty="0" err="1">
                <a:solidFill>
                  <a:schemeClr val="tx1"/>
                </a:solidFill>
              </a:rPr>
              <a:t>eph-analyzer.streamlit.app</a:t>
            </a:r>
            <a:r>
              <a:rPr dirty="0">
                <a:solidFill>
                  <a:schemeClr val="tx1"/>
                </a:solidFill>
              </a:rPr>
              <a:t>/GEMEPH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· </a:t>
            </a:r>
            <a:r>
              <a:rPr dirty="0" err="1">
                <a:solidFill>
                  <a:schemeClr val="tx1"/>
                </a:solidFill>
              </a:rPr>
              <a:t>UCCuyo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753</Words>
  <Application>Microsoft Macintosh PowerPoint</Application>
  <PresentationFormat>Panorámica</PresentationFormat>
  <Paragraphs>69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Dr. Claudio Larrea</cp:lastModifiedBy>
  <cp:revision>3</cp:revision>
  <dcterms:created xsi:type="dcterms:W3CDTF">2013-01-27T09:14:16Z</dcterms:created>
  <dcterms:modified xsi:type="dcterms:W3CDTF">2026-08-23T00:10:19Z</dcterms:modified>
  <cp:category/>
</cp:coreProperties>
</file>